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6" r:id="rId5"/>
    <p:sldId id="281" r:id="rId6"/>
    <p:sldId id="268" r:id="rId7"/>
    <p:sldId id="284" r:id="rId8"/>
    <p:sldId id="283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79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400" autoAdjust="0"/>
  </p:normalViewPr>
  <p:slideViewPr>
    <p:cSldViewPr snapToGrid="0" snapToObjects="1">
      <p:cViewPr varScale="1">
        <p:scale>
          <a:sx n="105" d="100"/>
          <a:sy n="105" d="100"/>
        </p:scale>
        <p:origin x="17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8C717-5798-4F62-A506-11307DAB32DB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68AD8-27E5-43CF-8F3E-9DB6C126A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96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168AD8-27E5-43CF-8F3E-9DB6C126A4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94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4" y="444730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4" y="1906544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4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901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4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284164" y="1577849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4" y="444730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60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1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4" y="1906544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30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4" y="444730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4" y="4801577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4" y="6263391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7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6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4" y="4801577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4" y="6263391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7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9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8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4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284164" y="1577849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4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284164" y="1577849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4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284164" y="1577849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20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2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4" y="452720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4" y="4801577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4" y="6263391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2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4" y="428064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2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1" y="914402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2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2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5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4" y="461684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4" y="4801577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4" y="6263391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6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5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5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4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284164" y="1577849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4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3" y="2857536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7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4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5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Mushfiqur Rahman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2015: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Stack &amp; Queue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</a:t>
            </a:r>
            <a:fld id="{4A983969-37C5-4618-A16D-59AABA52C7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19268" y="172278"/>
            <a:ext cx="8905462" cy="6210024"/>
          </a:xfrm>
        </p:spPr>
        <p:txBody>
          <a:bodyPr/>
          <a:lstStyle>
            <a:lvl1pPr marL="171450" indent="-171450"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>
              <a:defRPr lang="en-US" sz="2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7663" lvl="0" indent="-347663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 2" panose="05020102010507070707" pitchFamily="18" charset="2"/>
              <a:buChar char="õ"/>
            </a:pPr>
            <a:r>
              <a:rPr lang="en-US" dirty="0"/>
              <a:t>Click to edit Master text styles</a:t>
            </a:r>
          </a:p>
          <a:p>
            <a:pPr marL="646510" lvl="1" indent="-30361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¯"/>
            </a:pPr>
            <a:r>
              <a:rPr lang="en-US" dirty="0"/>
              <a:t>Second level</a:t>
            </a:r>
          </a:p>
          <a:p>
            <a:pPr marL="904875" lvl="2" indent="-2583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ô"/>
              <a:tabLst>
                <a:tab pos="944166" algn="l"/>
              </a:tabLst>
            </a:pPr>
            <a:r>
              <a:rPr lang="en-US" dirty="0"/>
              <a:t>Third level</a:t>
            </a:r>
          </a:p>
          <a:p>
            <a:pPr marL="1241822" lvl="3" indent="-2583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ò"/>
            </a:pPr>
            <a:r>
              <a:rPr lang="en-US" dirty="0"/>
              <a:t>Fourth level</a:t>
            </a:r>
          </a:p>
          <a:p>
            <a:pPr marL="1590675" lvl="4" indent="-2583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ñ"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88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4" y="2133602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4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4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sfca.edu/~galles/visualization/StackArray.html" TargetMode="External"/><Relationship Id="rId2" Type="http://schemas.openxmlformats.org/officeDocument/2006/relationships/hyperlink" Target="https://en.wikipedia.org/wiki/Stack_(abstract_data_type)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7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05177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80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Structure (Theory)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86696" y="2363928"/>
            <a:ext cx="4703869" cy="3864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itchFamily="2" charset="2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Stack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/>
            </a:pPr>
            <a:r>
              <a:rPr lang="en-US" sz="1600" dirty="0">
                <a:solidFill>
                  <a:schemeClr val="tx1"/>
                </a:solidFill>
              </a:rPr>
              <a:t>Definition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/>
            </a:pPr>
            <a:r>
              <a:rPr lang="en-US" sz="1600" dirty="0">
                <a:solidFill>
                  <a:schemeClr val="tx1"/>
                </a:solidFill>
              </a:rPr>
              <a:t>Implementation in C++: Operations &amp; More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/>
            </a:pPr>
            <a:r>
              <a:rPr lang="en-US" sz="1600" dirty="0">
                <a:solidFill>
                  <a:schemeClr val="tx1"/>
                </a:solidFill>
              </a:rPr>
              <a:t>Checking for Underflow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/>
            </a:pPr>
            <a:r>
              <a:rPr lang="en-US" sz="1600" dirty="0">
                <a:solidFill>
                  <a:schemeClr val="tx1"/>
                </a:solidFill>
              </a:rPr>
              <a:t>Checking for Overflow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/>
            </a:pPr>
            <a:r>
              <a:rPr lang="en-US" sz="1600" dirty="0">
                <a:solidFill>
                  <a:schemeClr val="tx1"/>
                </a:solidFill>
              </a:rPr>
              <a:t>Adding Elements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/>
            </a:pPr>
            <a:r>
              <a:rPr lang="en-US" sz="1600" dirty="0">
                <a:solidFill>
                  <a:schemeClr val="tx1"/>
                </a:solidFill>
              </a:rPr>
              <a:t>Removing Elements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/>
            </a:pPr>
            <a:r>
              <a:rPr lang="en-US" sz="1600" dirty="0">
                <a:solidFill>
                  <a:schemeClr val="tx1"/>
                </a:solidFill>
              </a:rPr>
              <a:t>Getting Top Value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/>
            </a:pPr>
            <a:r>
              <a:rPr lang="en-US" sz="1600" dirty="0">
                <a:solidFill>
                  <a:schemeClr val="tx1"/>
                </a:solidFill>
              </a:rPr>
              <a:t>Showing All Elements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5075710" y="2370138"/>
            <a:ext cx="3987851" cy="3864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2"/>
            </a:pPr>
            <a:endParaRPr lang="en-US" sz="1600" dirty="0">
              <a:solidFill>
                <a:schemeClr val="tx1"/>
              </a:solidFill>
            </a:endParaRP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 startAt="9"/>
            </a:pPr>
            <a:r>
              <a:rPr lang="en-US" sz="1600" dirty="0">
                <a:solidFill>
                  <a:schemeClr val="tx1"/>
                </a:solidFill>
              </a:rPr>
              <a:t>Dynamic Stack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 startAt="9"/>
            </a:pPr>
            <a:r>
              <a:rPr lang="en-US" sz="1600" dirty="0">
                <a:solidFill>
                  <a:schemeClr val="tx1"/>
                </a:solidFill>
              </a:rPr>
              <a:t>Object Oriented Approach</a:t>
            </a:r>
          </a:p>
          <a:p>
            <a:pPr marL="857250" lvl="1" indent="-400050" algn="l">
              <a:buClr>
                <a:schemeClr val="accent6"/>
              </a:buClr>
              <a:buFont typeface="+mj-lt"/>
              <a:buAutoNum type="romanLcPeriod" startAt="9"/>
            </a:pPr>
            <a:r>
              <a:rPr lang="en-US" sz="1600" dirty="0">
                <a:solidFill>
                  <a:schemeClr val="tx1"/>
                </a:solidFill>
              </a:rPr>
              <a:t>Generic Stack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tx1"/>
                </a:solidFill>
              </a:rPr>
              <a:t>Books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tx1"/>
                </a:solidFill>
              </a:rPr>
              <a:t>References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092922" y="2160130"/>
            <a:ext cx="0" cy="39827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70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85215" y="2156829"/>
            <a:ext cx="83690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stack or LIFO (last in, first out) is an abstract data type that serves as a collection of elements, with two principal operations: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/>
              <a:t>push adds an element to the collection;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/>
              <a:t>pop removes the last (top of the stack) element that was added.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Bounded capacity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/>
              <a:t>If the stack is full and does not contain enough space to accept an entity to be pushed, the stack is then considered to be in an overflow state. 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/>
              <a:t>A pop either reveals previously concealed items or results in an empty stack – which means no items are present in stack to be removed.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Non-Bounded capacity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/>
              <a:t>Dynamically allocate memory for stack. No overflow.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5171560" cy="484632"/>
          </a:xfrm>
        </p:spPr>
        <p:txBody>
          <a:bodyPr>
            <a:normAutofit/>
          </a:bodyPr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232277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654174"/>
            <a:ext cx="8198906" cy="4899025"/>
          </a:xfrm>
        </p:spPr>
        <p:txBody>
          <a:bodyPr>
            <a:noAutofit/>
          </a:bodyPr>
          <a:lstStyle/>
          <a:p>
            <a:pPr marL="0" indent="0" algn="just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Stack[100], Top=0,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=100;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Stack[]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holds the elements;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the index of 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Stack[]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always holding the whereabouts of the first/top element of the stack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//returns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if stack has no element</a:t>
            </a:r>
          </a:p>
          <a:p>
            <a:pPr marL="0" indent="0" algn="just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//returns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stack full</a:t>
            </a:r>
          </a:p>
          <a:p>
            <a:pPr marL="0" indent="0" algn="just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push(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Element);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//inserts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 the top of the stack</a:t>
            </a:r>
          </a:p>
          <a:p>
            <a:pPr marL="0" indent="0" algn="just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pop();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//deletes top element from stack into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</a:p>
          <a:p>
            <a:pPr marL="0" indent="0" algn="just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topElement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//gives the top element in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</a:p>
          <a:p>
            <a:pPr marL="0" indent="0" algn="just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show();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the whole stack</a:t>
            </a:r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7087282" cy="923012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Implementation in C++: Operations &amp; More</a:t>
            </a:r>
          </a:p>
        </p:txBody>
      </p:sp>
    </p:spTree>
    <p:extLst>
      <p:ext uri="{BB962C8B-B14F-4D97-AF65-F5344CB8AC3E}">
        <p14:creationId xmlns:p14="http://schemas.microsoft.com/office/powerpoint/2010/main" val="3426479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546170"/>
            <a:ext cx="6029447" cy="1528297"/>
          </a:xfrm>
        </p:spPr>
        <p:txBody>
          <a:bodyPr>
            <a:noAutofit/>
          </a:bodyPr>
          <a:lstStyle/>
          <a:p>
            <a:pPr marL="0" indent="0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/*returns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stack is empty*/</a:t>
            </a:r>
          </a:p>
          <a:p>
            <a:pPr marL="0" indent="0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(Top == 0);</a:t>
            </a:r>
          </a:p>
          <a:p>
            <a:pPr marL="0" indent="0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Checking for Underflow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819619"/>
              </p:ext>
            </p:extLst>
          </p:nvPr>
        </p:nvGraphicFramePr>
        <p:xfrm>
          <a:off x="3484233" y="2692228"/>
          <a:ext cx="1020482" cy="3838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3" name="Group 32"/>
          <p:cNvGrpSpPr/>
          <p:nvPr/>
        </p:nvGrpSpPr>
        <p:grpSpPr>
          <a:xfrm>
            <a:off x="1838313" y="6107654"/>
            <a:ext cx="1822176" cy="392982"/>
            <a:chOff x="159024" y="5989320"/>
            <a:chExt cx="1822176" cy="392982"/>
          </a:xfrm>
        </p:grpSpPr>
        <p:sp>
          <p:nvSpPr>
            <p:cNvPr id="34" name="Rectangle 33"/>
            <p:cNvSpPr/>
            <p:nvPr/>
          </p:nvSpPr>
          <p:spPr>
            <a:xfrm>
              <a:off x="159024" y="5989320"/>
              <a:ext cx="1075416" cy="3929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Top</a:t>
              </a:r>
            </a:p>
          </p:txBody>
        </p:sp>
        <p:cxnSp>
          <p:nvCxnSpPr>
            <p:cNvPr id="35" name="Straight Arrow Connector 34"/>
            <p:cNvCxnSpPr>
              <a:stCxn id="34" idx="3"/>
            </p:cNvCxnSpPr>
            <p:nvPr/>
          </p:nvCxnSpPr>
          <p:spPr>
            <a:xfrm>
              <a:off x="1234440" y="6185811"/>
              <a:ext cx="746760" cy="1629"/>
            </a:xfrm>
            <a:prstGeom prst="straightConnector1">
              <a:avLst/>
            </a:prstGeom>
            <a:ln w="31750">
              <a:tailEnd type="triangle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5694033" y="2678654"/>
            <a:ext cx="3246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Considering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2000" dirty="0"/>
              <a:t> = 7</a:t>
            </a:r>
          </a:p>
        </p:txBody>
      </p:sp>
    </p:spTree>
    <p:extLst>
      <p:ext uri="{BB962C8B-B14F-4D97-AF65-F5344CB8AC3E}">
        <p14:creationId xmlns:p14="http://schemas.microsoft.com/office/powerpoint/2010/main" val="169270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546170"/>
            <a:ext cx="6029447" cy="1528297"/>
          </a:xfrm>
        </p:spPr>
        <p:txBody>
          <a:bodyPr>
            <a:noAutofit/>
          </a:bodyPr>
          <a:lstStyle/>
          <a:p>
            <a:pPr marL="0" indent="0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/*returns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stack is full*/</a:t>
            </a:r>
          </a:p>
          <a:p>
            <a:pPr marL="0" indent="0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(Top ==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Checking for Overflow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495976"/>
              </p:ext>
            </p:extLst>
          </p:nvPr>
        </p:nvGraphicFramePr>
        <p:xfrm>
          <a:off x="3350217" y="2835215"/>
          <a:ext cx="1020482" cy="3838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1704297" y="2882601"/>
            <a:ext cx="1822176" cy="392982"/>
            <a:chOff x="159024" y="5989320"/>
            <a:chExt cx="1822176" cy="392982"/>
          </a:xfrm>
        </p:grpSpPr>
        <p:sp>
          <p:nvSpPr>
            <p:cNvPr id="11" name="Rectangle 10"/>
            <p:cNvSpPr/>
            <p:nvPr/>
          </p:nvSpPr>
          <p:spPr>
            <a:xfrm>
              <a:off x="159024" y="5989320"/>
              <a:ext cx="1075416" cy="3929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Top</a:t>
              </a:r>
            </a:p>
          </p:txBody>
        </p:sp>
        <p:cxnSp>
          <p:nvCxnSpPr>
            <p:cNvPr id="12" name="Straight Arrow Connector 11"/>
            <p:cNvCxnSpPr>
              <a:stCxn id="11" idx="3"/>
            </p:cNvCxnSpPr>
            <p:nvPr/>
          </p:nvCxnSpPr>
          <p:spPr>
            <a:xfrm>
              <a:off x="1234440" y="6185811"/>
              <a:ext cx="746760" cy="1629"/>
            </a:xfrm>
            <a:prstGeom prst="straightConnector1">
              <a:avLst/>
            </a:prstGeom>
            <a:ln w="31750">
              <a:tailEnd type="triangle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5560017" y="2821641"/>
            <a:ext cx="3246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Considering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2000" dirty="0"/>
              <a:t> = 7</a:t>
            </a:r>
          </a:p>
        </p:txBody>
      </p:sp>
    </p:spTree>
    <p:extLst>
      <p:ext uri="{BB962C8B-B14F-4D97-AF65-F5344CB8AC3E}">
        <p14:creationId xmlns:p14="http://schemas.microsoft.com/office/powerpoint/2010/main" val="113602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04800" y="1700208"/>
            <a:ext cx="8601075" cy="2061526"/>
          </a:xfrm>
        </p:spPr>
        <p:txBody>
          <a:bodyPr>
            <a:noAutofit/>
          </a:bodyPr>
          <a:lstStyle/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push(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Element ){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inserts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 the top of the stack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) ) {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 "Stack is Full\n";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} 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push element if there is space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	Stack[ Top++ ] = Element;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701859"/>
              </p:ext>
            </p:extLst>
          </p:nvPr>
        </p:nvGraphicFramePr>
        <p:xfrm>
          <a:off x="3488055" y="3771915"/>
          <a:ext cx="765362" cy="2879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253615" y="5259064"/>
            <a:ext cx="1366632" cy="294737"/>
            <a:chOff x="159024" y="5989320"/>
            <a:chExt cx="1822176" cy="392982"/>
          </a:xfrm>
        </p:grpSpPr>
        <p:sp>
          <p:nvSpPr>
            <p:cNvPr id="10" name="Rectangle 9"/>
            <p:cNvSpPr/>
            <p:nvPr/>
          </p:nvSpPr>
          <p:spPr>
            <a:xfrm>
              <a:off x="159024" y="5989320"/>
              <a:ext cx="1075416" cy="3929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Top</a:t>
              </a:r>
            </a:p>
          </p:txBody>
        </p:sp>
        <p:cxnSp>
          <p:nvCxnSpPr>
            <p:cNvPr id="11" name="Straight Arrow Connector 10"/>
            <p:cNvCxnSpPr>
              <a:stCxn id="10" idx="3"/>
            </p:cNvCxnSpPr>
            <p:nvPr/>
          </p:nvCxnSpPr>
          <p:spPr>
            <a:xfrm>
              <a:off x="1234440" y="6185811"/>
              <a:ext cx="746760" cy="1629"/>
            </a:xfrm>
            <a:prstGeom prst="straightConnector1">
              <a:avLst/>
            </a:prstGeom>
            <a:ln w="31750">
              <a:tailEnd type="triangle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3876675" y="5216687"/>
            <a:ext cx="379178" cy="3566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5405" y="3761734"/>
            <a:ext cx="37604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500" dirty="0"/>
              <a:t>Considering 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500" dirty="0"/>
              <a:t> = 7</a:t>
            </a:r>
          </a:p>
          <a:p>
            <a:pPr algn="just"/>
            <a:r>
              <a:rPr lang="en-US" sz="1500" dirty="0"/>
              <a:t>There are 3 elements inside Stack</a:t>
            </a:r>
          </a:p>
          <a:p>
            <a:pPr algn="just"/>
            <a:r>
              <a:rPr lang="en-US" sz="1500" dirty="0"/>
              <a:t>So next element will be pushed at index 3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253615" y="4876159"/>
            <a:ext cx="1366632" cy="294737"/>
            <a:chOff x="159024" y="5989320"/>
            <a:chExt cx="1822176" cy="392982"/>
          </a:xfrm>
        </p:grpSpPr>
        <p:sp>
          <p:nvSpPr>
            <p:cNvPr id="15" name="Rectangle 14"/>
            <p:cNvSpPr/>
            <p:nvPr/>
          </p:nvSpPr>
          <p:spPr>
            <a:xfrm>
              <a:off x="159024" y="5989320"/>
              <a:ext cx="1075416" cy="3929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Top</a:t>
              </a:r>
            </a:p>
          </p:txBody>
        </p:sp>
        <p:cxnSp>
          <p:nvCxnSpPr>
            <p:cNvPr id="16" name="Straight Arrow Connector 15"/>
            <p:cNvCxnSpPr>
              <a:stCxn id="15" idx="3"/>
            </p:cNvCxnSpPr>
            <p:nvPr/>
          </p:nvCxnSpPr>
          <p:spPr>
            <a:xfrm>
              <a:off x="1234440" y="6185811"/>
              <a:ext cx="746760" cy="1629"/>
            </a:xfrm>
            <a:prstGeom prst="straightConnector1">
              <a:avLst/>
            </a:prstGeom>
            <a:ln w="31750">
              <a:tailEnd type="triangle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Adding Elements</a:t>
            </a:r>
          </a:p>
        </p:txBody>
      </p:sp>
    </p:spTree>
    <p:extLst>
      <p:ext uri="{BB962C8B-B14F-4D97-AF65-F5344CB8AC3E}">
        <p14:creationId xmlns:p14="http://schemas.microsoft.com/office/powerpoint/2010/main" val="417714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38125" y="1670255"/>
            <a:ext cx="8905875" cy="1873903"/>
          </a:xfrm>
        </p:spPr>
        <p:txBody>
          <a:bodyPr>
            <a:noAutofit/>
          </a:bodyPr>
          <a:lstStyle/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pop(){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removes top element from stack and puts it in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) {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 "Stack empty\n";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Top--;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39673"/>
              </p:ext>
            </p:extLst>
          </p:nvPr>
        </p:nvGraphicFramePr>
        <p:xfrm>
          <a:off x="3558989" y="3494634"/>
          <a:ext cx="765362" cy="2879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324549" y="4981783"/>
            <a:ext cx="1366632" cy="294737"/>
            <a:chOff x="159024" y="5989320"/>
            <a:chExt cx="1822176" cy="392982"/>
          </a:xfrm>
        </p:grpSpPr>
        <p:sp>
          <p:nvSpPr>
            <p:cNvPr id="10" name="Rectangle 9"/>
            <p:cNvSpPr/>
            <p:nvPr/>
          </p:nvSpPr>
          <p:spPr>
            <a:xfrm>
              <a:off x="159024" y="5989320"/>
              <a:ext cx="1075416" cy="3929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Top</a:t>
              </a:r>
            </a:p>
          </p:txBody>
        </p:sp>
        <p:cxnSp>
          <p:nvCxnSpPr>
            <p:cNvPr id="11" name="Straight Arrow Connector 10"/>
            <p:cNvCxnSpPr>
              <a:stCxn id="10" idx="3"/>
            </p:cNvCxnSpPr>
            <p:nvPr/>
          </p:nvCxnSpPr>
          <p:spPr>
            <a:xfrm>
              <a:off x="1234440" y="6185811"/>
              <a:ext cx="746760" cy="1629"/>
            </a:xfrm>
            <a:prstGeom prst="straightConnector1">
              <a:avLst/>
            </a:prstGeom>
            <a:ln w="31750">
              <a:tailEnd type="triangle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5216339" y="3541541"/>
            <a:ext cx="37604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500" dirty="0"/>
              <a:t>Considering 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500" dirty="0"/>
              <a:t> = 7</a:t>
            </a:r>
          </a:p>
          <a:p>
            <a:pPr algn="just"/>
            <a:r>
              <a:rPr lang="en-US" sz="1500" dirty="0"/>
              <a:t>There are 4 elements inside Stack</a:t>
            </a:r>
          </a:p>
          <a:p>
            <a:pPr algn="just"/>
            <a:r>
              <a:rPr lang="en-US" sz="1500" dirty="0"/>
              <a:t>So element will be popped from index 3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324549" y="4598878"/>
            <a:ext cx="1366632" cy="294737"/>
            <a:chOff x="159024" y="5989320"/>
            <a:chExt cx="1822176" cy="392982"/>
          </a:xfrm>
        </p:grpSpPr>
        <p:sp>
          <p:nvSpPr>
            <p:cNvPr id="14" name="Rectangle 13"/>
            <p:cNvSpPr/>
            <p:nvPr/>
          </p:nvSpPr>
          <p:spPr>
            <a:xfrm>
              <a:off x="159024" y="5989320"/>
              <a:ext cx="1075416" cy="3929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Top</a:t>
              </a:r>
            </a:p>
          </p:txBody>
        </p:sp>
        <p:cxnSp>
          <p:nvCxnSpPr>
            <p:cNvPr id="15" name="Straight Arrow Connector 14"/>
            <p:cNvCxnSpPr>
              <a:stCxn id="14" idx="3"/>
            </p:cNvCxnSpPr>
            <p:nvPr/>
          </p:nvCxnSpPr>
          <p:spPr>
            <a:xfrm>
              <a:off x="1234440" y="6185811"/>
              <a:ext cx="746760" cy="1629"/>
            </a:xfrm>
            <a:prstGeom prst="straightConnector1">
              <a:avLst/>
            </a:prstGeom>
            <a:ln w="31750">
              <a:tailEnd type="triangle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Rectangle 15"/>
          <p:cNvSpPr/>
          <p:nvPr/>
        </p:nvSpPr>
        <p:spPr>
          <a:xfrm>
            <a:off x="3947609" y="4939406"/>
            <a:ext cx="379178" cy="3566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14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Removing Elements</a:t>
            </a:r>
          </a:p>
        </p:txBody>
      </p:sp>
    </p:spTree>
    <p:extLst>
      <p:ext uri="{BB962C8B-B14F-4D97-AF65-F5344CB8AC3E}">
        <p14:creationId xmlns:p14="http://schemas.microsoft.com/office/powerpoint/2010/main" val="214253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969696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546170"/>
            <a:ext cx="6029447" cy="1528297"/>
          </a:xfrm>
        </p:spPr>
        <p:txBody>
          <a:bodyPr>
            <a:noAutofit/>
          </a:bodyPr>
          <a:lstStyle/>
          <a:p>
            <a:pPr marL="512064" indent="-512064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topElement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512064" indent="-512064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gives the top element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2064" indent="-512064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Stack[ Top - 1 ];</a:t>
            </a:r>
          </a:p>
          <a:p>
            <a:pPr marL="512064" indent="-512064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Getting Top Value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191216"/>
              </p:ext>
            </p:extLst>
          </p:nvPr>
        </p:nvGraphicFramePr>
        <p:xfrm>
          <a:off x="3209365" y="2749602"/>
          <a:ext cx="1020482" cy="3838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19165" y="2736028"/>
            <a:ext cx="501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Considering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/>
              <a:t> = 7</a:t>
            </a:r>
          </a:p>
          <a:p>
            <a:pPr algn="just"/>
            <a:r>
              <a:rPr lang="en-US" sz="1600" dirty="0"/>
              <a:t>There are 4 elements inside Stack</a:t>
            </a:r>
          </a:p>
          <a:p>
            <a:pPr algn="just"/>
            <a:r>
              <a:rPr lang="en-US" sz="1600" dirty="0"/>
              <a:t>So top element will be at index 3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563445" y="4221928"/>
            <a:ext cx="1822176" cy="392982"/>
            <a:chOff x="159024" y="5989320"/>
            <a:chExt cx="1822176" cy="392982"/>
          </a:xfrm>
        </p:grpSpPr>
        <p:sp>
          <p:nvSpPr>
            <p:cNvPr id="17" name="Rectangle 16"/>
            <p:cNvSpPr/>
            <p:nvPr/>
          </p:nvSpPr>
          <p:spPr>
            <a:xfrm>
              <a:off x="159024" y="5989320"/>
              <a:ext cx="1075416" cy="3929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Top</a:t>
              </a:r>
            </a:p>
          </p:txBody>
        </p:sp>
        <p:cxnSp>
          <p:nvCxnSpPr>
            <p:cNvPr id="18" name="Straight Arrow Connector 17"/>
            <p:cNvCxnSpPr>
              <a:stCxn id="17" idx="3"/>
            </p:cNvCxnSpPr>
            <p:nvPr/>
          </p:nvCxnSpPr>
          <p:spPr>
            <a:xfrm>
              <a:off x="1234440" y="6185811"/>
              <a:ext cx="746760" cy="1629"/>
            </a:xfrm>
            <a:prstGeom prst="straightConnector1">
              <a:avLst/>
            </a:prstGeom>
            <a:ln w="31750">
              <a:tailEnd type="triangle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/>
        </p:nvSpPr>
        <p:spPr>
          <a:xfrm>
            <a:off x="3727525" y="4675965"/>
            <a:ext cx="505570" cy="475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13602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546170"/>
            <a:ext cx="7544482" cy="1528297"/>
          </a:xfrm>
        </p:spPr>
        <p:txBody>
          <a:bodyPr>
            <a:noAutofit/>
          </a:bodyPr>
          <a:lstStyle/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show(){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the whole stack from top to bottom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 {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 "Stack empty\n";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=Top-1;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&gt;=0;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-- )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Stack[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&lt;&lt;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Showing All Elements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9365" y="2749602"/>
          <a:ext cx="1020482" cy="3838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8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19166" y="3074467"/>
            <a:ext cx="3177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Considering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/>
              <a:t> = 7</a:t>
            </a:r>
          </a:p>
          <a:p>
            <a:pPr algn="just"/>
            <a:r>
              <a:rPr lang="en-US" sz="1600" dirty="0"/>
              <a:t>There are 4 elements inside Stack</a:t>
            </a:r>
          </a:p>
          <a:p>
            <a:pPr algn="just"/>
            <a:r>
              <a:rPr lang="en-US" sz="1600" dirty="0"/>
              <a:t>So top element will be at index 3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563445" y="4221928"/>
            <a:ext cx="1822176" cy="392982"/>
            <a:chOff x="159024" y="5989320"/>
            <a:chExt cx="1822176" cy="392982"/>
          </a:xfrm>
        </p:grpSpPr>
        <p:sp>
          <p:nvSpPr>
            <p:cNvPr id="17" name="Rectangle 16"/>
            <p:cNvSpPr/>
            <p:nvPr/>
          </p:nvSpPr>
          <p:spPr>
            <a:xfrm>
              <a:off x="159024" y="5989320"/>
              <a:ext cx="1075416" cy="3929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Top</a:t>
              </a:r>
            </a:p>
          </p:txBody>
        </p:sp>
        <p:cxnSp>
          <p:nvCxnSpPr>
            <p:cNvPr id="18" name="Straight Arrow Connector 17"/>
            <p:cNvCxnSpPr>
              <a:stCxn id="17" idx="3"/>
            </p:cNvCxnSpPr>
            <p:nvPr/>
          </p:nvCxnSpPr>
          <p:spPr>
            <a:xfrm>
              <a:off x="1234440" y="6185811"/>
              <a:ext cx="746760" cy="1629"/>
            </a:xfrm>
            <a:prstGeom prst="straightConnector1">
              <a:avLst/>
            </a:prstGeom>
            <a:ln w="31750">
              <a:tailEnd type="triangle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/>
        </p:nvSpPr>
        <p:spPr>
          <a:xfrm>
            <a:off x="3727525" y="4675965"/>
            <a:ext cx="505570" cy="475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52094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546170"/>
            <a:ext cx="7544482" cy="5105642"/>
          </a:xfrm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Stack[100], Top,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//Initializing stack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Size = 100 ){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Size; Top = 0;}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push(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Element);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pop();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topElement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show();  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600" dirty="0"/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Object Oriented Approach</a:t>
            </a:r>
          </a:p>
        </p:txBody>
      </p:sp>
    </p:spTree>
    <p:extLst>
      <p:ext uri="{BB962C8B-B14F-4D97-AF65-F5344CB8AC3E}">
        <p14:creationId xmlns:p14="http://schemas.microsoft.com/office/powerpoint/2010/main" val="4285306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546170"/>
            <a:ext cx="7544482" cy="5105642"/>
          </a:xfrm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*Stack, Top,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push(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Element);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pop();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topElement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show();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resize(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size);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//Resize the 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600" dirty="0"/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Dynamic Stack</a:t>
            </a:r>
          </a:p>
        </p:txBody>
      </p:sp>
    </p:spTree>
    <p:extLst>
      <p:ext uri="{BB962C8B-B14F-4D97-AF65-F5344CB8AC3E}">
        <p14:creationId xmlns:p14="http://schemas.microsoft.com/office/powerpoint/2010/main" val="2072062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546170"/>
            <a:ext cx="7965824" cy="5105642"/>
          </a:xfrm>
        </p:spPr>
        <p:txBody>
          <a:bodyPr>
            <a:noAutofit/>
          </a:bodyPr>
          <a:lstStyle/>
          <a:p>
            <a:pPr algn="just">
              <a:buClrTx/>
              <a:buFont typeface="Wingdings" panose="05000000000000000000" pitchFamily="2" charset="2"/>
              <a:buChar char="q"/>
            </a:pPr>
            <a:r>
              <a:rPr lang="en-US" sz="1800" dirty="0">
                <a:cs typeface="Courier New" panose="02070309020205020404" pitchFamily="49" charset="0"/>
              </a:rPr>
              <a:t>The Constructor will create the array dynamically, Destructor will release it.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Size = 100 ){</a:t>
            </a:r>
          </a:p>
          <a:p>
            <a:pPr marL="512064" lvl="1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Size;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//get Size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2064" lvl="1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Stack =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//create array accordingly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2064" lvl="1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Top = 0;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//start the stack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::~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512064" lvl="1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delete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Stack;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//release the memory for stack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Dynamic Stack: Constructor &amp; Destructor</a:t>
            </a:r>
          </a:p>
        </p:txBody>
      </p:sp>
    </p:spTree>
    <p:extLst>
      <p:ext uri="{BB962C8B-B14F-4D97-AF65-F5344CB8AC3E}">
        <p14:creationId xmlns:p14="http://schemas.microsoft.com/office/powerpoint/2010/main" val="3748193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546170"/>
            <a:ext cx="7965824" cy="5105642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q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resize</a:t>
            </a:r>
            <a:r>
              <a:rPr lang="en-US" sz="1600" dirty="0">
                <a:cs typeface="Courier New" panose="02070309020205020404" pitchFamily="49" charset="0"/>
              </a:rPr>
              <a:t> creates a new array dynamically, copies all the element from the previous stack, releases the old array, and makes the pointer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US" sz="1600" dirty="0">
                <a:cs typeface="Courier New" panose="02070309020205020404" pitchFamily="49" charset="0"/>
              </a:rPr>
              <a:t> point to the new array.</a:t>
            </a:r>
          </a:p>
          <a:p>
            <a:pPr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q"/>
            </a:pPr>
            <a:r>
              <a:rPr lang="en-US" sz="1600" dirty="0">
                <a:cs typeface="Courier New" panose="02070309020205020404" pitchFamily="49" charset="0"/>
              </a:rPr>
              <a:t>By default increase 100, user can define the additional size. Use negative size to decrease the array.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resize(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Size = 100 ){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//creates a new stack with a new capacity,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Size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Size ];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//copy the elements from old to new stack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 )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Stack[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+= Size;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increases by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Stack;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//release the old stack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Stack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//assign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new stack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push(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Element ){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//inserts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 the top of the stack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) )	resize( 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//increase size if full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	Stack[ Top++ ] = Element;</a:t>
            </a:r>
          </a:p>
          <a:p>
            <a:pPr marL="512064" indent="-512064" algn="just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Dynamic Stack: Runtime Resizing</a:t>
            </a:r>
          </a:p>
        </p:txBody>
      </p:sp>
    </p:spTree>
    <p:extLst>
      <p:ext uri="{BB962C8B-B14F-4D97-AF65-F5344CB8AC3E}">
        <p14:creationId xmlns:p14="http://schemas.microsoft.com/office/powerpoint/2010/main" val="3260374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494" y="1546170"/>
            <a:ext cx="7544482" cy="5105642"/>
          </a:xfrm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T&gt;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*Stack;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Top,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push(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pop();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topElement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show(); </a:t>
            </a:r>
          </a:p>
          <a:p>
            <a:pPr marL="398463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resize(</a:t>
            </a:r>
            <a:r>
              <a:rPr lang="en-US" sz="1600" b="1" dirty="0" err="1">
                <a:solidFill>
                  <a:srgbClr val="0000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//resize the stack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600" dirty="0"/>
          </a:p>
        </p:txBody>
      </p:sp>
      <p:sp>
        <p:nvSpPr>
          <p:cNvPr id="41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Generic Stack</a:t>
            </a:r>
          </a:p>
        </p:txBody>
      </p:sp>
    </p:spTree>
    <p:extLst>
      <p:ext uri="{BB962C8B-B14F-4D97-AF65-F5344CB8AC3E}">
        <p14:creationId xmlns:p14="http://schemas.microsoft.com/office/powerpoint/2010/main" val="152130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35496" y="1594093"/>
            <a:ext cx="83690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</a:t>
            </a:r>
            <a:r>
              <a:rPr lang="en-US" b="1" dirty="0" err="1"/>
              <a:t>Schaum's</a:t>
            </a:r>
            <a:r>
              <a:rPr lang="en-US" b="1" dirty="0"/>
              <a:t> Outline of Data Structures with C++”</a:t>
            </a:r>
            <a:r>
              <a:rPr lang="en-US" dirty="0"/>
              <a:t>. By John R. Hubbard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 and Program Design”, </a:t>
            </a:r>
            <a:r>
              <a:rPr lang="en-US" dirty="0"/>
              <a:t>Robert L. Kruse, 3</a:t>
            </a:r>
            <a:r>
              <a:rPr lang="en-US" baseline="30000" dirty="0"/>
              <a:t>rd</a:t>
            </a:r>
            <a:r>
              <a:rPr lang="en-US" dirty="0"/>
              <a:t> Edition, 1996.</a:t>
            </a:r>
            <a:r>
              <a:rPr lang="en-US" b="1" dirty="0"/>
              <a:t> </a:t>
            </a:r>
            <a:endParaRPr lang="en-US" dirty="0"/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structures, algorithms and performance”, </a:t>
            </a:r>
            <a:r>
              <a:rPr lang="en-US" dirty="0"/>
              <a:t>D. Wood, Addison-Wesley, 1993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“Advanced Data Structures”, </a:t>
            </a:r>
            <a:r>
              <a:rPr lang="en-US" dirty="0"/>
              <a:t>Peter Brass, Cambridge University Press, 2008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 and Algorithm Analysis”, </a:t>
            </a:r>
            <a:r>
              <a:rPr lang="en-US" dirty="0"/>
              <a:t>Edition 3.2 (C++ Version), Clifford A. Shaffer, Virginia Tech, Blacksburg, VA 24061 January 2, 2012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“C++  Data Structures”, </a:t>
            </a:r>
            <a:r>
              <a:rPr lang="en-US" dirty="0"/>
              <a:t>Nell Dale and David Teague, Jones and Bartlett Publishers, 2001.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 and Algorithms with Object-Oriented Design Patterns in C++”, </a:t>
            </a:r>
            <a:r>
              <a:rPr lang="en-US" dirty="0"/>
              <a:t>Bruno R. </a:t>
            </a:r>
            <a:r>
              <a:rPr lang="en-US" dirty="0" err="1"/>
              <a:t>Preiss</a:t>
            </a:r>
            <a:r>
              <a:rPr lang="en-US" dirty="0"/>
              <a:t>,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519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35496" y="1594091"/>
            <a:ext cx="8369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“Advanced Data Structures”, </a:t>
            </a:r>
            <a:r>
              <a:rPr lang="en-US" dirty="0"/>
              <a:t>Peter Brass, Cambridge University Press, 2008. </a:t>
            </a:r>
            <a:r>
              <a:rPr lang="en-US" i="1" dirty="0"/>
              <a:t>[Chapter 1: 1.1]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dirty="0">
                <a:hlinkClick r:id="rId2"/>
              </a:rPr>
              <a:t>https://en.wikipedia.org/wiki/Stack_(abstract_data_type)</a:t>
            </a:r>
            <a:endParaRPr lang="en-US" dirty="0"/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dirty="0">
                <a:hlinkClick r:id="rId3"/>
              </a:rPr>
              <a:t>https://www.cs.usfca.edu/~</a:t>
            </a:r>
            <a:r>
              <a:rPr lang="en-US">
                <a:hlinkClick r:id="rId3"/>
              </a:rPr>
              <a:t>galles/visualization/StackArray.html</a:t>
            </a:r>
            <a:r>
              <a:rPr lang="en-US"/>
              <a:t> (</a:t>
            </a:r>
            <a:r>
              <a:rPr lang="en-US" dirty="0"/>
              <a:t>This is a great site for visualizing </a:t>
            </a:r>
            <a:r>
              <a:rPr lang="en-US"/>
              <a:t>stack operations)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8539C60182AE4C8C5632DCF07A9657" ma:contentTypeVersion="0" ma:contentTypeDescription="Create a new document." ma:contentTypeScope="" ma:versionID="9f538743a4495ccbca651eac251317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185B91-B64F-46ED-BD78-4686F3E0931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6055560-4F93-4F73-B014-4EE57DF7EE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02C3CE-CDFE-420F-A6AB-43218D87E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988</TotalTime>
  <Words>1334</Words>
  <Application>Microsoft Office PowerPoint</Application>
  <PresentationFormat>On-screen Show (4:3)</PresentationFormat>
  <Paragraphs>261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Corbel</vt:lpstr>
      <vt:lpstr>Courier New</vt:lpstr>
      <vt:lpstr>Wingdings</vt:lpstr>
      <vt:lpstr>Wingdings 2</vt:lpstr>
      <vt:lpstr>Spectrum</vt:lpstr>
      <vt:lpstr>Stack</vt:lpstr>
      <vt:lpstr>Lecture Outline</vt:lpstr>
      <vt:lpstr>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test</cp:lastModifiedBy>
  <cp:revision>595</cp:revision>
  <dcterms:created xsi:type="dcterms:W3CDTF">2018-12-10T17:20:29Z</dcterms:created>
  <dcterms:modified xsi:type="dcterms:W3CDTF">2025-07-19T10:58:10Z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0x0101004C8539C60182AE4C8C5632DCF07A9657</vt:lpwstr>
  </property>
</Properties>
</file>